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9" r:id="rId4"/>
    <p:sldId id="261" r:id="rId5"/>
    <p:sldId id="263" r:id="rId6"/>
    <p:sldId id="262" r:id="rId7"/>
    <p:sldId id="270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BDE1"/>
    <a:srgbClr val="89C4DC"/>
    <a:srgbClr val="84CAD1"/>
    <a:srgbClr val="71D2AE"/>
    <a:srgbClr val="8CBCE1"/>
    <a:srgbClr val="5BD582"/>
    <a:srgbClr val="5B9ED4"/>
    <a:srgbClr val="5BD38B"/>
    <a:srgbClr val="5B9CD5"/>
    <a:srgbClr val="5BD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23000">
              <a:schemeClr val="accent1">
                <a:lumMod val="45000"/>
                <a:lumOff val="55000"/>
              </a:schemeClr>
            </a:gs>
            <a:gs pos="5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9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tags" Target="../tags/tag3.xml"/><Relationship Id="rId3" Type="http://schemas.openxmlformats.org/officeDocument/2006/relationships/image" Target="../media/image7.png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3000">
              <a:srgbClr val="5BD582"/>
            </a:gs>
            <a:gs pos="100000">
              <a:srgbClr val="5B9CD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406657"/>
            <a:ext cx="9144000" cy="2187001"/>
          </a:xfrm>
        </p:spPr>
        <p:txBody>
          <a:bodyPr>
            <a:normAutofit/>
          </a:bodyPr>
          <a:p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ПМ</a:t>
            </a:r>
            <a:r>
              <a:rPr lang="en-US" altLang="ru-RU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.01 </a:t>
            </a:r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Разработка</a:t>
            </a:r>
            <a:r>
              <a:rPr lang="en-US" altLang="ru-RU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модулей</a:t>
            </a:r>
            <a:r>
              <a:rPr lang="en-US" altLang="ru-RU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программного</a:t>
            </a:r>
            <a:r>
              <a:rPr lang="en-US" altLang="ru-RU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обеспечения</a:t>
            </a:r>
            <a:r>
              <a:rPr lang="en-US" altLang="ru-RU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для</a:t>
            </a:r>
            <a:r>
              <a:rPr lang="en-US" altLang="ru-RU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компьютерных</a:t>
            </a:r>
            <a:r>
              <a:rPr lang="en-US" altLang="ru-RU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 </a:t>
            </a:r>
            <a:r>
              <a:rPr lang="en-US" altLang="en-US" sz="31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charset="0"/>
                <a:cs typeface="Montserrat Black" panose="00000A00000000000000" charset="0"/>
              </a:rPr>
              <a:t>систем</a:t>
            </a:r>
            <a:endParaRPr lang="en-US" altLang="en-US" sz="311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lack" panose="00000A00000000000000" charset="0"/>
              <a:cs typeface="Montserrat Black" panose="00000A00000000000000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703185" y="3283585"/>
            <a:ext cx="4325620" cy="1655445"/>
          </a:xfrm>
        </p:spPr>
        <p:txBody>
          <a:bodyPr>
            <a:normAutofit lnSpcReduction="20000"/>
          </a:bodyPr>
          <a:p>
            <a:pPr algn="r"/>
            <a:r>
              <a:rPr lang="ru-RU" altLang="en-US">
                <a:solidFill>
                  <a:schemeClr val="bg1"/>
                </a:solidFill>
              </a:rPr>
              <a:t>Выполнил</a:t>
            </a:r>
            <a:r>
              <a:rPr lang="en-US" altLang="en-US">
                <a:solidFill>
                  <a:schemeClr val="bg1"/>
                </a:solidFill>
              </a:rPr>
              <a:t>:</a:t>
            </a:r>
            <a:endParaRPr lang="en-US" altLang="en-US">
              <a:solidFill>
                <a:schemeClr val="bg1"/>
              </a:solidFill>
            </a:endParaRPr>
          </a:p>
          <a:p>
            <a:pPr algn="r"/>
            <a:r>
              <a:rPr lang="ru-RU" altLang="en-US">
                <a:solidFill>
                  <a:schemeClr val="bg1"/>
                </a:solidFill>
              </a:rPr>
              <a:t>Шумов Владислав Михайлович</a:t>
            </a:r>
            <a:endParaRPr lang="ru-RU" altLang="en-US">
              <a:solidFill>
                <a:schemeClr val="bg1"/>
              </a:solidFill>
            </a:endParaRPr>
          </a:p>
          <a:p>
            <a:pPr algn="r"/>
            <a:r>
              <a:rPr lang="ru-RU" altLang="en-US">
                <a:solidFill>
                  <a:schemeClr val="bg1"/>
                </a:solidFill>
              </a:rPr>
              <a:t>ИСП.23.1А</a:t>
            </a:r>
            <a:endParaRPr lang="ru-R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7510" y="1842135"/>
            <a:ext cx="9150350" cy="2409190"/>
          </a:xfrm>
        </p:spPr>
        <p:txBody>
          <a:bodyPr>
            <a:normAutofit/>
          </a:bodyPr>
          <a:p>
            <a:pPr algn="just">
              <a:lnSpc>
                <a:spcPct val="150000"/>
              </a:lnSpc>
            </a:pPr>
            <a:r>
              <a:rPr lang="ru-RU" altLang="en-US">
                <a:solidFill>
                  <a:schemeClr val="tx1"/>
                </a:solidFill>
                <a:cs typeface="Calibri Light" panose="020F0302020204030204" pitchFamily="34" charset="0"/>
              </a:rPr>
              <a:t>Необходимо с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озда</a:t>
            </a:r>
            <a:r>
              <a:rPr lang="ru-RU" altLang="en-US">
                <a:solidFill>
                  <a:schemeClr val="tx1"/>
                </a:solidFill>
                <a:cs typeface="Calibri Light" panose="020F0302020204030204" pitchFamily="34" charset="0"/>
              </a:rPr>
              <a:t>ть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приложения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с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графическим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интерфейсом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автоматизации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процесса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проверки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знаний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.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Система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должна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позволять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пользователям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проходить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интерактивные</a:t>
            </a:r>
            <a:r>
              <a:rPr lang="en-US" altLang="ru-RU">
                <a:solidFill>
                  <a:schemeClr val="tx1"/>
                </a:solidFill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cs typeface="Calibri Light" panose="020F0302020204030204" pitchFamily="34" charset="0"/>
              </a:rPr>
              <a:t>тесты </a:t>
            </a:r>
            <a:r>
              <a:rPr lang="ru-RU" altLang="en-US">
                <a:solidFill>
                  <a:schemeClr val="tx1"/>
                </a:solidFill>
                <a:cs typeface="Calibri Light" panose="020F0302020204030204" pitchFamily="34" charset="0"/>
              </a:rPr>
              <a:t>и предоставлять детальную статистику прохождений.</a:t>
            </a:r>
            <a:endParaRPr lang="ru-RU" altLang="en-US">
              <a:solidFill>
                <a:schemeClr val="tx1"/>
              </a:solidFill>
              <a:cs typeface="Calibri Light" panose="020F0302020204030204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06705" y="346710"/>
            <a:ext cx="4455160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583"/>
                </a:gs>
                <a:gs pos="100000">
                  <a:srgbClr val="5B9CD5"/>
                </a:gs>
              </a:gsLst>
              <a:lin ang="462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Постановка задачи</a:t>
            </a:r>
            <a:r>
              <a:rPr lang="en-US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:</a:t>
            </a:r>
            <a:endParaRPr lang="en-US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362585" y="1332865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Прямое соединение 18"/>
          <p:cNvCxnSpPr/>
          <p:nvPr/>
        </p:nvCxnSpPr>
        <p:spPr>
          <a:xfrm>
            <a:off x="362585" y="4973955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" name="Группа 16"/>
          <p:cNvGrpSpPr/>
          <p:nvPr/>
        </p:nvGrpSpPr>
        <p:grpSpPr>
          <a:xfrm>
            <a:off x="295275" y="1728470"/>
            <a:ext cx="603250" cy="4466590"/>
            <a:chOff x="465" y="2722"/>
            <a:chExt cx="950" cy="7034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465" y="3606"/>
              <a:ext cx="950" cy="6150"/>
              <a:chOff x="465" y="3606"/>
              <a:chExt cx="950" cy="6150"/>
            </a:xfrm>
          </p:grpSpPr>
          <p:sp>
            <p:nvSpPr>
              <p:cNvPr id="9" name="Овал 8"/>
              <p:cNvSpPr/>
              <p:nvPr/>
            </p:nvSpPr>
            <p:spPr>
              <a:xfrm>
                <a:off x="465" y="3606"/>
                <a:ext cx="930" cy="840"/>
              </a:xfrm>
              <a:prstGeom prst="ellipse">
                <a:avLst/>
              </a:prstGeom>
              <a:solidFill>
                <a:srgbClr val="00EC1B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 altLang="en-US"/>
              </a:p>
            </p:txBody>
          </p:sp>
          <p:sp>
            <p:nvSpPr>
              <p:cNvPr id="10" name="Овал 9"/>
              <p:cNvSpPr/>
              <p:nvPr/>
            </p:nvSpPr>
            <p:spPr>
              <a:xfrm>
                <a:off x="465" y="4491"/>
                <a:ext cx="930" cy="840"/>
              </a:xfrm>
              <a:prstGeom prst="ellipse">
                <a:avLst/>
              </a:prstGeom>
              <a:solidFill>
                <a:srgbClr val="00EC1B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 altLang="en-US"/>
              </a:p>
            </p:txBody>
          </p:sp>
          <p:sp>
            <p:nvSpPr>
              <p:cNvPr id="11" name="Овал 10"/>
              <p:cNvSpPr/>
              <p:nvPr/>
            </p:nvSpPr>
            <p:spPr>
              <a:xfrm>
                <a:off x="485" y="5376"/>
                <a:ext cx="930" cy="840"/>
              </a:xfrm>
              <a:prstGeom prst="ellipse">
                <a:avLst/>
              </a:prstGeom>
              <a:solidFill>
                <a:srgbClr val="00EC1B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 altLang="en-US"/>
              </a:p>
            </p:txBody>
          </p:sp>
          <p:sp>
            <p:nvSpPr>
              <p:cNvPr id="12" name="Овал 11"/>
              <p:cNvSpPr/>
              <p:nvPr/>
            </p:nvSpPr>
            <p:spPr>
              <a:xfrm>
                <a:off x="483" y="6261"/>
                <a:ext cx="930" cy="840"/>
              </a:xfrm>
              <a:prstGeom prst="ellipse">
                <a:avLst/>
              </a:prstGeom>
              <a:solidFill>
                <a:srgbClr val="00EC1B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 altLang="en-US"/>
              </a:p>
            </p:txBody>
          </p:sp>
          <p:sp>
            <p:nvSpPr>
              <p:cNvPr id="13" name="Овал 12"/>
              <p:cNvSpPr/>
              <p:nvPr/>
            </p:nvSpPr>
            <p:spPr>
              <a:xfrm>
                <a:off x="485" y="7146"/>
                <a:ext cx="930" cy="840"/>
              </a:xfrm>
              <a:prstGeom prst="ellipse">
                <a:avLst/>
              </a:prstGeom>
              <a:solidFill>
                <a:srgbClr val="00EC1B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 altLang="en-US"/>
              </a:p>
            </p:txBody>
          </p:sp>
          <p:sp>
            <p:nvSpPr>
              <p:cNvPr id="14" name="Овал 13"/>
              <p:cNvSpPr/>
              <p:nvPr/>
            </p:nvSpPr>
            <p:spPr>
              <a:xfrm>
                <a:off x="485" y="8031"/>
                <a:ext cx="930" cy="840"/>
              </a:xfrm>
              <a:prstGeom prst="ellipse">
                <a:avLst/>
              </a:prstGeom>
              <a:solidFill>
                <a:srgbClr val="00EC1B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 altLang="en-US"/>
              </a:p>
            </p:txBody>
          </p:sp>
          <p:sp>
            <p:nvSpPr>
              <p:cNvPr id="15" name="Овал 14"/>
              <p:cNvSpPr/>
              <p:nvPr/>
            </p:nvSpPr>
            <p:spPr>
              <a:xfrm>
                <a:off x="485" y="8916"/>
                <a:ext cx="930" cy="840"/>
              </a:xfrm>
              <a:prstGeom prst="ellipse">
                <a:avLst/>
              </a:prstGeom>
              <a:solidFill>
                <a:srgbClr val="00EC1B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 altLang="en-US"/>
              </a:p>
            </p:txBody>
          </p:sp>
        </p:grpSp>
        <p:sp>
          <p:nvSpPr>
            <p:cNvPr id="7" name="Овал 6"/>
            <p:cNvSpPr/>
            <p:nvPr/>
          </p:nvSpPr>
          <p:spPr>
            <a:xfrm>
              <a:off x="465" y="2722"/>
              <a:ext cx="930" cy="840"/>
            </a:xfrm>
            <a:prstGeom prst="ellipse">
              <a:avLst/>
            </a:prstGeom>
            <a:solidFill>
              <a:srgbClr val="00EC1B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  <p:sp>
        <p:nvSpPr>
          <p:cNvPr id="5" name="Скругленный прямоугольник 4"/>
          <p:cNvSpPr/>
          <p:nvPr/>
        </p:nvSpPr>
        <p:spPr>
          <a:xfrm>
            <a:off x="306705" y="346710"/>
            <a:ext cx="6179185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583"/>
                </a:gs>
                <a:gs pos="100000">
                  <a:srgbClr val="5B9CD5"/>
                </a:gs>
              </a:gsLst>
              <a:lin ang="462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6705" y="194310"/>
            <a:ext cx="6622415" cy="730250"/>
          </a:xfrm>
        </p:spPr>
        <p:txBody>
          <a:bodyPr>
            <a:normAutofit/>
          </a:bodyPr>
          <a:p>
            <a:pPr algn="l"/>
            <a:r>
              <a:rPr lang="ru-RU" sz="311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</a:rPr>
              <a:t>Функциональные требования</a:t>
            </a:r>
            <a:r>
              <a:rPr lang="en-US" sz="311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</a:rPr>
              <a:t>:</a:t>
            </a:r>
            <a:endParaRPr lang="en-US" sz="311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7510" y="1686560"/>
            <a:ext cx="11454765" cy="4665345"/>
          </a:xfrm>
        </p:spPr>
        <p:txBody>
          <a:bodyPr>
            <a:normAutofit fontScale="90000" lnSpcReduction="20000"/>
          </a:bodyPr>
          <a:p>
            <a:pPr algn="just">
              <a:lnSpc>
                <a:spcPct val="150000"/>
              </a:lnSpc>
            </a:pPr>
            <a:r>
              <a:rPr 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1.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Загрузка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тестов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из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внешних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json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файлов</a:t>
            </a:r>
            <a:endParaRPr lang="en-US" altLang="en-US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2.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Прохождение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тест</a:t>
            </a:r>
            <a:r>
              <a:rPr lang="ru-RU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ов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с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пошаговым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отображением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вопросов</a:t>
            </a:r>
            <a:endParaRPr lang="en-US" altLang="en-US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3.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Автоматический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подсчёт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результатов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и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формирование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итоговой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оценки</a:t>
            </a:r>
            <a:endParaRPr lang="en-US" altLang="en-US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4.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Сохранение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результатов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базе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данных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endParaRPr lang="en-US" altLang="ru-RU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5.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Просмотр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истории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прохождения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тестов</a:t>
            </a:r>
            <a:endParaRPr lang="en-US" altLang="en-US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6.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Удаление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отдельных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записей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и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очистка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истории</a:t>
            </a:r>
            <a:endParaRPr lang="en-US" altLang="en-US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7.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Экспорт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сертификата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форматах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.docx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и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.pdf</a:t>
            </a:r>
            <a:endParaRPr lang="en-US" altLang="ru-RU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8.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Экспорт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таблицы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результатов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формат</a:t>
            </a:r>
            <a:r>
              <a:rPr lang="en-US" altLang="ru-RU">
                <a:solidFill>
                  <a:schemeClr val="tx1"/>
                </a:solidFill>
                <a:latin typeface="Cascadia Code" panose="020B0609020000020004" charset="0"/>
                <a:cs typeface="Cascadia Code" panose="020B0609020000020004" charset="0"/>
              </a:rPr>
              <a:t> .xlsx</a:t>
            </a:r>
            <a:endParaRPr lang="en-US" altLang="ru-RU">
              <a:solidFill>
                <a:schemeClr val="tx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362585" y="1332865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Прямое соединение 18"/>
          <p:cNvCxnSpPr/>
          <p:nvPr/>
        </p:nvCxnSpPr>
        <p:spPr>
          <a:xfrm>
            <a:off x="362585" y="6536055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Скругленный прямоугольник 5"/>
          <p:cNvSpPr/>
          <p:nvPr/>
        </p:nvSpPr>
        <p:spPr>
          <a:xfrm>
            <a:off x="2000885" y="346710"/>
            <a:ext cx="8190865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583"/>
                </a:gs>
                <a:gs pos="100000">
                  <a:srgbClr val="5B9CD5"/>
                </a:gs>
              </a:gsLst>
              <a:lin ang="462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Скриншоты настольной версии программы</a:t>
            </a:r>
            <a:endParaRPr 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362585" y="1332865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Прямое соединение 18"/>
          <p:cNvCxnSpPr/>
          <p:nvPr/>
        </p:nvCxnSpPr>
        <p:spPr>
          <a:xfrm>
            <a:off x="362585" y="6156960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Рисунок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110" y="1624330"/>
            <a:ext cx="7638415" cy="425577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3048000" y="6328410"/>
            <a:ext cx="6096000" cy="354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266700">
              <a:lnSpc>
                <a:spcPct val="107000"/>
              </a:lnSpc>
            </a:pP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Главное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меню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программы</a:t>
            </a:r>
            <a:endParaRPr lang="en-US" altLang="en-US" sz="1600">
              <a:latin typeface="+mj-lt"/>
              <a:ea typeface="Calibri" panose="020F0502020204030204"/>
              <a:cs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5" name="Прямое соединение 4"/>
          <p:cNvCxnSpPr/>
          <p:nvPr/>
        </p:nvCxnSpPr>
        <p:spPr>
          <a:xfrm>
            <a:off x="-139700" y="3374390"/>
            <a:ext cx="12439015" cy="5080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Прямое соединение 6"/>
          <p:cNvCxnSpPr/>
          <p:nvPr/>
        </p:nvCxnSpPr>
        <p:spPr>
          <a:xfrm flipH="1">
            <a:off x="6057265" y="0"/>
            <a:ext cx="25400" cy="68891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Рисунок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120" y="457835"/>
            <a:ext cx="4022090" cy="2405380"/>
          </a:xfrm>
          <a:prstGeom prst="rect">
            <a:avLst/>
          </a:prstGeom>
        </p:spPr>
      </p:pic>
      <p:pic>
        <p:nvPicPr>
          <p:cNvPr id="21" name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" y="3545205"/>
            <a:ext cx="4004945" cy="2732405"/>
          </a:xfrm>
          <a:prstGeom prst="rect">
            <a:avLst/>
          </a:prstGeom>
        </p:spPr>
      </p:pic>
      <p:pic>
        <p:nvPicPr>
          <p:cNvPr id="22" name="Рисунок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20" y="3554730"/>
            <a:ext cx="4089400" cy="2797810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1234440" y="2890520"/>
            <a:ext cx="3743325" cy="35433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Страница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результатов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тестирования</a:t>
            </a:r>
            <a:endParaRPr lang="en-US" altLang="en-US" sz="1600">
              <a:latin typeface="+mj-lt"/>
              <a:ea typeface="Calibri" panose="020F0502020204030204"/>
              <a:cs typeface="+mj-lt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7767955" y="2941955"/>
            <a:ext cx="2861310" cy="35433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Страница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истории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результатов</a:t>
            </a:r>
            <a:endParaRPr lang="en-US" altLang="en-US" sz="1600">
              <a:latin typeface="+mj-lt"/>
              <a:ea typeface="Calibri" panose="020F0502020204030204"/>
              <a:cs typeface="+mj-lt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7949565" y="6375400"/>
            <a:ext cx="2861945" cy="35433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Страница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прохождения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теста</a:t>
            </a:r>
            <a:endParaRPr lang="en-US" altLang="en-US" sz="1600">
              <a:latin typeface="+mj-lt"/>
              <a:ea typeface="Calibri" panose="020F0502020204030204"/>
              <a:cs typeface="+mj-lt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855470" y="6255385"/>
            <a:ext cx="2501265" cy="35433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Страница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выбора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</a:rPr>
              <a:t>теста</a:t>
            </a:r>
            <a:endParaRPr lang="en-US" altLang="en-US" sz="1600">
              <a:latin typeface="+mj-lt"/>
              <a:ea typeface="Calibri" panose="020F0502020204030204"/>
              <a:cs typeface="+mj-lt"/>
            </a:endParaRPr>
          </a:p>
        </p:txBody>
      </p:sp>
      <p:pic>
        <p:nvPicPr>
          <p:cNvPr id="23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50" y="184150"/>
            <a:ext cx="3743960" cy="256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Скругленный прямоугольник 5"/>
          <p:cNvSpPr/>
          <p:nvPr/>
        </p:nvSpPr>
        <p:spPr>
          <a:xfrm>
            <a:off x="2000885" y="67310"/>
            <a:ext cx="8190865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583"/>
                </a:gs>
                <a:gs pos="100000">
                  <a:srgbClr val="5B9CD5"/>
                </a:gs>
              </a:gsLst>
              <a:lin ang="462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Видео работы приложения</a:t>
            </a:r>
            <a:endParaRPr lang="ru-RU" alt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362585" y="773430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Прямое соединение 18"/>
          <p:cNvCxnSpPr/>
          <p:nvPr/>
        </p:nvCxnSpPr>
        <p:spPr>
          <a:xfrm>
            <a:off x="414655" y="6272530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2026-03-05 06-55-5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39520" y="961390"/>
            <a:ext cx="9544685" cy="4935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Скругленный прямоугольник 5"/>
          <p:cNvSpPr/>
          <p:nvPr/>
        </p:nvSpPr>
        <p:spPr>
          <a:xfrm>
            <a:off x="2000885" y="346710"/>
            <a:ext cx="8190865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583"/>
                </a:gs>
                <a:gs pos="100000">
                  <a:srgbClr val="5B9CD5"/>
                </a:gs>
              </a:gsLst>
              <a:lin ang="462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Скриншоты мобильной версии программы</a:t>
            </a:r>
            <a:endParaRPr 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362585" y="1332865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Прямое соединение 18"/>
          <p:cNvCxnSpPr/>
          <p:nvPr/>
        </p:nvCxnSpPr>
        <p:spPr>
          <a:xfrm>
            <a:off x="362585" y="6156960"/>
            <a:ext cx="11193780" cy="1524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Текстовое поле 3"/>
          <p:cNvSpPr txBox="1"/>
          <p:nvPr>
            <p:custDataLst>
              <p:tags r:id="rId1"/>
            </p:custDataLst>
          </p:nvPr>
        </p:nvSpPr>
        <p:spPr>
          <a:xfrm>
            <a:off x="91440" y="5646420"/>
            <a:ext cx="3238500" cy="354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266700">
              <a:lnSpc>
                <a:spcPct val="107000"/>
              </a:lnSpc>
            </a:pP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Главное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меню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программы</a:t>
            </a:r>
            <a:endParaRPr lang="en-US" altLang="en-US" sz="1600">
              <a:latin typeface="+mj-lt"/>
              <a:ea typeface="Calibri" panose="020F0502020204030204"/>
              <a:cs typeface="+mj-lt"/>
              <a:sym typeface="+mn-ea"/>
            </a:endParaRPr>
          </a:p>
        </p:txBody>
      </p:sp>
      <p:pic>
        <p:nvPicPr>
          <p:cNvPr id="2" name="Рисунок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2268" y="1592580"/>
            <a:ext cx="2695575" cy="3925570"/>
          </a:xfrm>
          <a:prstGeom prst="rect">
            <a:avLst/>
          </a:prstGeom>
        </p:spPr>
      </p:pic>
      <p:pic>
        <p:nvPicPr>
          <p:cNvPr id="24" name="Рисунок 2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39640" y="1579245"/>
            <a:ext cx="2712085" cy="3951605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>
            <p:custDataLst>
              <p:tags r:id="rId6"/>
            </p:custDataLst>
          </p:nvPr>
        </p:nvSpPr>
        <p:spPr>
          <a:xfrm>
            <a:off x="4928235" y="5646420"/>
            <a:ext cx="2336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Страница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выбора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теста</a:t>
            </a:r>
            <a:endParaRPr lang="en-US" altLang="en-US" sz="1600">
              <a:latin typeface="+mj-lt"/>
              <a:ea typeface="Calibri" panose="020F0502020204030204"/>
              <a:cs typeface="+mj-lt"/>
              <a:sym typeface="+mn-ea"/>
            </a:endParaRPr>
          </a:p>
        </p:txBody>
      </p:sp>
      <p:pic>
        <p:nvPicPr>
          <p:cNvPr id="25" name="Рисунок 2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844915" y="1592580"/>
            <a:ext cx="2711450" cy="393954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>
            <p:custDataLst>
              <p:tags r:id="rId9"/>
            </p:custDataLst>
          </p:nvPr>
        </p:nvSpPr>
        <p:spPr>
          <a:xfrm>
            <a:off x="8422005" y="5629275"/>
            <a:ext cx="3556635" cy="354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266700">
              <a:lnSpc>
                <a:spcPct val="107000"/>
              </a:lnSpc>
            </a:pP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Страница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прохождения</a:t>
            </a:r>
            <a:r>
              <a:rPr lang="en-US" altLang="ru-RU" sz="1600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 sz="1600">
                <a:latin typeface="+mj-lt"/>
                <a:ea typeface="Calibri" panose="020F0502020204030204"/>
                <a:cs typeface="+mj-lt"/>
                <a:sym typeface="+mn-ea"/>
              </a:rPr>
              <a:t>теста</a:t>
            </a:r>
            <a:endParaRPr lang="en-US" altLang="en-US" sz="1600">
              <a:latin typeface="+mj-lt"/>
              <a:ea typeface="Calibri" panose="020F0502020204030204"/>
              <a:cs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7" name="Прямое соединение 6"/>
          <p:cNvCxnSpPr/>
          <p:nvPr/>
        </p:nvCxnSpPr>
        <p:spPr>
          <a:xfrm flipH="1">
            <a:off x="6057265" y="935990"/>
            <a:ext cx="635" cy="59531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  <a:lin ang="21120000"/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Скругленный прямоугольник 5"/>
          <p:cNvSpPr/>
          <p:nvPr/>
        </p:nvSpPr>
        <p:spPr>
          <a:xfrm>
            <a:off x="99695" y="431800"/>
            <a:ext cx="12004040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583"/>
                </a:gs>
                <a:gs pos="100000">
                  <a:srgbClr val="5B9CD5"/>
                </a:gs>
              </a:gsLst>
              <a:lin ang="462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Используемые технологии</a:t>
            </a:r>
            <a:endParaRPr 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117600" y="1069340"/>
            <a:ext cx="3429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Настольная версия</a:t>
            </a:r>
            <a:endParaRPr lang="ru-RU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7440930" y="1069340"/>
            <a:ext cx="3429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Мобильная версия</a:t>
            </a:r>
            <a:endParaRPr lang="ru-RU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99695" y="1899920"/>
            <a:ext cx="260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Python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99695" y="2487295"/>
            <a:ext cx="260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tkinter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99695" y="3074670"/>
            <a:ext cx="260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PostgreSQL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99695" y="3662045"/>
            <a:ext cx="260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FastAPI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99695" y="4249420"/>
            <a:ext cx="260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reportlab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99695" y="4836795"/>
            <a:ext cx="260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openpyxl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99695" y="5424170"/>
            <a:ext cx="260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python-docx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9754870" y="1793240"/>
            <a:ext cx="2348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C# -</a:t>
            </a:r>
            <a:endParaRPr lang="en-US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9754870" y="2360295"/>
            <a:ext cx="2348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MAUI -</a:t>
            </a:r>
            <a:endParaRPr lang="en-US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3" name="Текстовое поле 22"/>
          <p:cNvSpPr txBox="1"/>
          <p:nvPr/>
        </p:nvSpPr>
        <p:spPr>
          <a:xfrm>
            <a:off x="8829040" y="2927350"/>
            <a:ext cx="3274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Visual Studio -</a:t>
            </a:r>
            <a:endParaRPr lang="en-US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6" name="Текстовое поле 25"/>
          <p:cNvSpPr txBox="1"/>
          <p:nvPr/>
        </p:nvSpPr>
        <p:spPr>
          <a:xfrm>
            <a:off x="8829040" y="3535045"/>
            <a:ext cx="3274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XAML -</a:t>
            </a:r>
            <a:endParaRPr lang="en-US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7" name="Текстовое поле 26"/>
          <p:cNvSpPr txBox="1"/>
          <p:nvPr/>
        </p:nvSpPr>
        <p:spPr>
          <a:xfrm>
            <a:off x="8829040" y="4142740"/>
            <a:ext cx="3274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PostgreSQL -</a:t>
            </a:r>
            <a:endParaRPr lang="en-US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Скругленный прямоугольник 5"/>
          <p:cNvSpPr/>
          <p:nvPr/>
        </p:nvSpPr>
        <p:spPr>
          <a:xfrm>
            <a:off x="99695" y="346710"/>
            <a:ext cx="12004040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583"/>
                </a:gs>
                <a:gs pos="100000">
                  <a:srgbClr val="5B9CD5"/>
                </a:gs>
              </a:gsLst>
              <a:lin ang="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Тестирование</a:t>
            </a:r>
            <a:endParaRPr lang="ru-RU" alt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99695" y="1163320"/>
            <a:ext cx="12003405" cy="1213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50000"/>
              </a:lnSpc>
            </a:pP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Для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автоматизации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процесса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модульного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тестирования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(unit-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тестов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) 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был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использован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</a:t>
            </a:r>
            <a:r>
              <a:rPr lang="en-US" altLang="en-US">
                <a:latin typeface="Cascadia Code" panose="020B0609020000020004" charset="0"/>
                <a:cs typeface="Cascadia Code" panose="020B0609020000020004" charset="0"/>
                <a:sym typeface="+mn-ea"/>
              </a:rPr>
              <a:t>фреймворк</a:t>
            </a:r>
            <a:r>
              <a:rPr lang="en-US" altLang="ru-RU">
                <a:latin typeface="Cascadia Code" panose="020B0609020000020004" charset="0"/>
                <a:cs typeface="Cascadia Code" panose="020B0609020000020004" charset="0"/>
                <a:sym typeface="+mn-ea"/>
              </a:rPr>
              <a:t> pytest.</a:t>
            </a:r>
            <a:endParaRPr lang="en-US" altLang="ru-RU"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pic>
        <p:nvPicPr>
          <p:cNvPr id="1842934344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3430" y="3009900"/>
            <a:ext cx="5844540" cy="2882265"/>
          </a:xfrm>
          <a:prstGeom prst="rect">
            <a:avLst/>
          </a:prstGeom>
        </p:spPr>
      </p:pic>
      <p:cxnSp>
        <p:nvCxnSpPr>
          <p:cNvPr id="5" name="Прямое соединение 4"/>
          <p:cNvCxnSpPr/>
          <p:nvPr/>
        </p:nvCxnSpPr>
        <p:spPr>
          <a:xfrm>
            <a:off x="-139700" y="2586990"/>
            <a:ext cx="12439015" cy="5080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Текстовое поле 3"/>
          <p:cNvSpPr txBox="1"/>
          <p:nvPr>
            <p:custDataLst>
              <p:tags r:id="rId2"/>
            </p:custDataLst>
          </p:nvPr>
        </p:nvSpPr>
        <p:spPr>
          <a:xfrm>
            <a:off x="3314065" y="5892165"/>
            <a:ext cx="58432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>
                <a:latin typeface="+mj-lt"/>
                <a:ea typeface="Calibri" panose="020F0502020204030204"/>
                <a:cs typeface="+mj-lt"/>
                <a:sym typeface="+mn-ea"/>
              </a:rPr>
              <a:t>Результат</a:t>
            </a:r>
            <a:r>
              <a:rPr lang="en-US" altLang="ru-RU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>
                <a:latin typeface="+mj-lt"/>
                <a:ea typeface="Calibri" panose="020F0502020204030204"/>
                <a:cs typeface="+mj-lt"/>
                <a:sym typeface="+mn-ea"/>
              </a:rPr>
              <a:t>модульного</a:t>
            </a:r>
            <a:r>
              <a:rPr lang="en-US" altLang="ru-RU">
                <a:latin typeface="+mj-lt"/>
                <a:ea typeface="Calibri" panose="020F0502020204030204"/>
                <a:cs typeface="+mj-lt"/>
                <a:sym typeface="+mn-ea"/>
              </a:rPr>
              <a:t> </a:t>
            </a:r>
            <a:r>
              <a:rPr lang="en-US" altLang="en-US">
                <a:latin typeface="+mj-lt"/>
                <a:ea typeface="Calibri" panose="020F0502020204030204"/>
                <a:cs typeface="+mj-lt"/>
                <a:sym typeface="+mn-ea"/>
              </a:rPr>
              <a:t>тестирования</a:t>
            </a:r>
            <a:endParaRPr lang="en-US" altLang="en-US">
              <a:latin typeface="+mj-lt"/>
              <a:ea typeface="Calibri" panose="020F0502020204030204"/>
              <a:cs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7" name="Прямое соединение 6"/>
          <p:cNvCxnSpPr/>
          <p:nvPr/>
        </p:nvCxnSpPr>
        <p:spPr>
          <a:xfrm flipH="1">
            <a:off x="6057265" y="935990"/>
            <a:ext cx="635" cy="59531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  <a:lin ang="21120000"/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Скругленный прямоугольник 5"/>
          <p:cNvSpPr/>
          <p:nvPr/>
        </p:nvSpPr>
        <p:spPr>
          <a:xfrm>
            <a:off x="99695" y="346710"/>
            <a:ext cx="12004040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486"/>
                </a:gs>
                <a:gs pos="100000">
                  <a:srgbClr val="5B9CD5"/>
                </a:gs>
              </a:gsLst>
              <a:lin ang="498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Преимущества и недостатки</a:t>
            </a:r>
            <a:endParaRPr 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117600" y="1069340"/>
            <a:ext cx="3429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Преимущества (+)</a:t>
            </a:r>
            <a:endParaRPr lang="ru-RU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7440930" y="1069340"/>
            <a:ext cx="3429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Недостатки (-)</a:t>
            </a:r>
            <a:endParaRPr lang="ru-RU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99695" y="1899920"/>
            <a:ext cx="5779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Мультиформатный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экспорт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ru-RU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 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результатов</a:t>
            </a:r>
            <a:r>
              <a:rPr lang="ru-RU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(DOCX, PDF, XLSX)</a:t>
            </a:r>
            <a:endParaRPr lang="en-US" altLang="ru-RU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99695" y="2821305"/>
            <a:ext cx="5779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Полная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автоматизация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цикла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тестирования</a:t>
            </a:r>
            <a:endParaRPr lang="en-US" altLang="en-US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99695" y="3742690"/>
            <a:ext cx="5779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Детальная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статистика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и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аналитика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результатов</a:t>
            </a:r>
            <a:endParaRPr lang="en-US" altLang="en-US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99695" y="4664075"/>
            <a:ext cx="5702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Готовые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шаблоны</a:t>
            </a:r>
            <a:r>
              <a:rPr lang="en-US" alt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сертификатов</a:t>
            </a:r>
            <a:endParaRPr lang="en-US" altLang="en-US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6236335" y="1793240"/>
            <a:ext cx="5867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Только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один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тип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вопросов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(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выбор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одного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варианта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)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endParaRPr lang="en-US" altLang="ru-RU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3" name="Текстовое поле 22"/>
          <p:cNvSpPr txBox="1"/>
          <p:nvPr/>
        </p:nvSpPr>
        <p:spPr>
          <a:xfrm>
            <a:off x="6312535" y="2823845"/>
            <a:ext cx="57912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Нет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возможности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вернуться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к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предыдущему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вопросу</a:t>
            </a:r>
            <a:endParaRPr lang="en-US" altLang="en-US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6" name="Текстовое поле 25"/>
          <p:cNvSpPr txBox="1"/>
          <p:nvPr/>
        </p:nvSpPr>
        <p:spPr>
          <a:xfrm>
            <a:off x="6312535" y="3917950"/>
            <a:ext cx="57912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-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Ограниченный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функционал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мобильной</a:t>
            </a:r>
            <a:r>
              <a:rPr lang="en-US" altLang="ru-RU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5B9CD5"/>
                </a:solidFill>
                <a:latin typeface="Cascadia Code" panose="020B0609020000020004" charset="0"/>
                <a:cs typeface="Cascadia Code" panose="020B0609020000020004" charset="0"/>
              </a:rPr>
              <a:t>версии</a:t>
            </a:r>
            <a:endParaRPr lang="en-US" altLang="en-US" sz="2400" b="1">
              <a:solidFill>
                <a:srgbClr val="5B9CD5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Скругленный прямоугольник 5"/>
          <p:cNvSpPr/>
          <p:nvPr/>
        </p:nvSpPr>
        <p:spPr>
          <a:xfrm>
            <a:off x="99695" y="346710"/>
            <a:ext cx="12004040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486"/>
                </a:gs>
                <a:gs pos="100000">
                  <a:srgbClr val="5B9CD5"/>
                </a:gs>
              </a:gsLst>
              <a:lin ang="498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Перспективы проекта</a:t>
            </a:r>
            <a:endParaRPr 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26695" y="1137920"/>
            <a:ext cx="7988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В будущих обновлениях можно добавить</a:t>
            </a:r>
            <a:r>
              <a:rPr lang="en-US" sz="2400" b="1">
                <a:solidFill>
                  <a:srgbClr val="5BD582"/>
                </a:solidFill>
                <a:latin typeface="Cascadia Code" panose="020B0609020000020004" charset="0"/>
                <a:cs typeface="Cascadia Code" panose="020B0609020000020004" charset="0"/>
              </a:rPr>
              <a:t>:</a:t>
            </a:r>
            <a:endParaRPr lang="en-US" sz="2400" b="1">
              <a:solidFill>
                <a:srgbClr val="5BD582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226695" y="1783080"/>
            <a:ext cx="7988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1)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Поддержка типов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вопросов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: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множественный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выбор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,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ввод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числа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,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соответствие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,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последовательность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,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открытый</a:t>
            </a:r>
            <a:r>
              <a:rPr lang="en-US" altLang="ru-RU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71D2AE"/>
                </a:solidFill>
                <a:latin typeface="Cascadia Code" panose="020B0609020000020004" charset="0"/>
                <a:cs typeface="Cascadia Code" panose="020B0609020000020004" charset="0"/>
              </a:rPr>
              <a:t>ответ</a:t>
            </a:r>
            <a:endParaRPr lang="en-US" altLang="en-US" sz="2400" b="1">
              <a:solidFill>
                <a:srgbClr val="71D2AE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226695" y="3166745"/>
            <a:ext cx="79889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2) </a:t>
            </a:r>
            <a:r>
              <a:rPr lang="en-US" alt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Система</a:t>
            </a:r>
            <a:r>
              <a:rPr lang="en-US" altLang="ru-RU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регистрации</a:t>
            </a:r>
            <a:r>
              <a:rPr lang="en-US" altLang="ru-RU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и</a:t>
            </a:r>
            <a:r>
              <a:rPr lang="en-US" altLang="ru-RU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ролей</a:t>
            </a:r>
            <a:r>
              <a:rPr lang="en-US" altLang="ru-RU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: </a:t>
            </a:r>
            <a:r>
              <a:rPr lang="en-US" alt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студент</a:t>
            </a:r>
            <a:r>
              <a:rPr lang="en-US" altLang="ru-RU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, </a:t>
            </a:r>
            <a:r>
              <a:rPr lang="en-US" alt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преподаватель</a:t>
            </a:r>
            <a:r>
              <a:rPr lang="en-US" altLang="ru-RU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, </a:t>
            </a:r>
            <a:r>
              <a:rPr lang="en-US" altLang="en-US" sz="2400" b="1">
                <a:solidFill>
                  <a:srgbClr val="84CAD1"/>
                </a:solidFill>
                <a:latin typeface="Cascadia Code" panose="020B0609020000020004" charset="0"/>
                <a:cs typeface="Cascadia Code" panose="020B0609020000020004" charset="0"/>
              </a:rPr>
              <a:t>администратор</a:t>
            </a:r>
            <a:endParaRPr lang="en-US" altLang="en-US" sz="2400" b="1">
              <a:solidFill>
                <a:srgbClr val="84CAD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226695" y="4181475"/>
            <a:ext cx="7988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3) </a:t>
            </a:r>
            <a:r>
              <a:rPr lang="en-US" altLang="en-US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Редактор</a:t>
            </a:r>
            <a:r>
              <a:rPr lang="en-US" altLang="ru-RU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тестов</a:t>
            </a:r>
            <a:r>
              <a:rPr lang="en-US" altLang="ru-RU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прямо</a:t>
            </a:r>
            <a:r>
              <a:rPr lang="en-US" altLang="ru-RU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в</a:t>
            </a:r>
            <a:r>
              <a:rPr lang="en-US" altLang="ru-RU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9C4DC"/>
                </a:solidFill>
                <a:latin typeface="Cascadia Code" panose="020B0609020000020004" charset="0"/>
                <a:cs typeface="Cascadia Code" panose="020B0609020000020004" charset="0"/>
              </a:rPr>
              <a:t>приложении</a:t>
            </a:r>
            <a:endParaRPr lang="en-US" altLang="ru-RU" sz="2400" b="1">
              <a:solidFill>
                <a:srgbClr val="89C4DC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26695" y="4826635"/>
            <a:ext cx="7988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4) </a:t>
            </a:r>
            <a:r>
              <a:rPr lang="en-US" altLang="en-US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Диаграммы</a:t>
            </a:r>
            <a:r>
              <a:rPr lang="en-US" altLang="ru-RU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и</a:t>
            </a:r>
            <a:r>
              <a:rPr lang="en-US" altLang="ru-RU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графики</a:t>
            </a:r>
            <a:r>
              <a:rPr lang="en-US" altLang="ru-RU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 </a:t>
            </a:r>
            <a:r>
              <a:rPr lang="en-US" altLang="en-US" sz="2400" b="1">
                <a:solidFill>
                  <a:srgbClr val="8CBDE1"/>
                </a:solidFill>
                <a:latin typeface="Cascadia Code" panose="020B0609020000020004" charset="0"/>
                <a:cs typeface="Cascadia Code" panose="020B0609020000020004" charset="0"/>
              </a:rPr>
              <a:t>успеваемости</a:t>
            </a:r>
            <a:endParaRPr lang="en-US" altLang="en-US" sz="2400" b="1">
              <a:solidFill>
                <a:srgbClr val="8CBDE1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5" name="6-конечная звезда 14"/>
          <p:cNvSpPr/>
          <p:nvPr/>
        </p:nvSpPr>
        <p:spPr>
          <a:xfrm rot="1020000">
            <a:off x="9474835" y="1223645"/>
            <a:ext cx="965200" cy="1054100"/>
          </a:xfrm>
          <a:prstGeom prst="star6">
            <a:avLst/>
          </a:prstGeom>
          <a:gradFill>
            <a:gsLst>
              <a:gs pos="0">
                <a:srgbClr val="5BD582"/>
              </a:gs>
              <a:gs pos="100000">
                <a:srgbClr val="8CBCE1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7" name="6-конечная звезда 16"/>
          <p:cNvSpPr/>
          <p:nvPr/>
        </p:nvSpPr>
        <p:spPr>
          <a:xfrm rot="21300000">
            <a:off x="10705465" y="2513965"/>
            <a:ext cx="965200" cy="1054100"/>
          </a:xfrm>
          <a:prstGeom prst="star6">
            <a:avLst/>
          </a:prstGeom>
          <a:gradFill>
            <a:gsLst>
              <a:gs pos="0">
                <a:srgbClr val="5BD582"/>
              </a:gs>
              <a:gs pos="100000">
                <a:srgbClr val="8CBCE1"/>
              </a:gs>
            </a:gsLst>
            <a:lin ang="1542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6-конечная звезда 17"/>
          <p:cNvSpPr/>
          <p:nvPr/>
        </p:nvSpPr>
        <p:spPr>
          <a:xfrm rot="21300000">
            <a:off x="9232265" y="3775075"/>
            <a:ext cx="965200" cy="1054100"/>
          </a:xfrm>
          <a:prstGeom prst="star6">
            <a:avLst/>
          </a:prstGeom>
          <a:gradFill>
            <a:gsLst>
              <a:gs pos="0">
                <a:srgbClr val="5BD582"/>
              </a:gs>
              <a:gs pos="100000">
                <a:srgbClr val="8CBCE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9" name="6-конечная звезда 18"/>
          <p:cNvSpPr/>
          <p:nvPr/>
        </p:nvSpPr>
        <p:spPr>
          <a:xfrm rot="1380000">
            <a:off x="10705465" y="4765675"/>
            <a:ext cx="965200" cy="1054100"/>
          </a:xfrm>
          <a:prstGeom prst="star6">
            <a:avLst/>
          </a:prstGeom>
          <a:gradFill>
            <a:gsLst>
              <a:gs pos="0">
                <a:srgbClr val="5BD582"/>
              </a:gs>
              <a:gs pos="100000">
                <a:srgbClr val="8CBCE1"/>
              </a:gs>
            </a:gsLst>
            <a:path path="rect">
              <a:fillToRect r="100000" b="100000"/>
            </a:path>
            <a:tileRect l="-100000" t="-10000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1" name="6-конечная звезда 20"/>
          <p:cNvSpPr/>
          <p:nvPr/>
        </p:nvSpPr>
        <p:spPr>
          <a:xfrm rot="21240000">
            <a:off x="8792845" y="5342890"/>
            <a:ext cx="965200" cy="1054100"/>
          </a:xfrm>
          <a:prstGeom prst="star6">
            <a:avLst/>
          </a:prstGeom>
          <a:gradFill>
            <a:gsLst>
              <a:gs pos="0">
                <a:srgbClr val="5BD582"/>
              </a:gs>
              <a:gs pos="100000">
                <a:srgbClr val="8CBCE1"/>
              </a:gs>
            </a:gsLst>
            <a:lin ang="810000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2" name="6-конечная звезда 21"/>
          <p:cNvSpPr/>
          <p:nvPr/>
        </p:nvSpPr>
        <p:spPr>
          <a:xfrm rot="1020000">
            <a:off x="8044815" y="2513965"/>
            <a:ext cx="965200" cy="1054100"/>
          </a:xfrm>
          <a:prstGeom prst="star6">
            <a:avLst/>
          </a:prstGeom>
          <a:gradFill>
            <a:gsLst>
              <a:gs pos="0">
                <a:srgbClr val="5BD582"/>
              </a:gs>
              <a:gs pos="100000">
                <a:srgbClr val="8CBCE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Скругленный прямоугольник 5"/>
          <p:cNvSpPr/>
          <p:nvPr/>
        </p:nvSpPr>
        <p:spPr>
          <a:xfrm>
            <a:off x="99695" y="346710"/>
            <a:ext cx="12004040" cy="606425"/>
          </a:xfrm>
          <a:prstGeom prst="roundRect">
            <a:avLst/>
          </a:prstGeom>
          <a:solidFill>
            <a:schemeClr val="bg1"/>
          </a:solidFill>
          <a:ln w="28575" cmpd="sng">
            <a:gradFill>
              <a:gsLst>
                <a:gs pos="0">
                  <a:srgbClr val="5BD486"/>
                </a:gs>
                <a:gs pos="100000">
                  <a:srgbClr val="5B9CD5"/>
                </a:gs>
              </a:gsLst>
              <a:lin ang="498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2800">
                <a:solidFill>
                  <a:schemeClr val="tx1"/>
                </a:solidFill>
                <a:effectLst/>
                <a:latin typeface="Cascadia Code" panose="020B0609020000020004" charset="0"/>
                <a:cs typeface="Cascadia Code" panose="020B0609020000020004" charset="0"/>
                <a:sym typeface="+mn-ea"/>
              </a:rPr>
              <a:t>Заключение</a:t>
            </a:r>
            <a:endParaRPr lang="ru-RU" altLang="ru-RU" sz="2800">
              <a:solidFill>
                <a:schemeClr val="tx1"/>
              </a:solidFill>
              <a:effectLst/>
              <a:latin typeface="Cascadia Code" panose="020B0609020000020004" charset="0"/>
              <a:cs typeface="Cascadia Code" panose="020B0609020000020004" charset="0"/>
              <a:sym typeface="+mn-ea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183765" y="2179320"/>
            <a:ext cx="7823835" cy="1851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В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соответствии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с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постановкой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задачи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разработан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алгоритм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работы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программного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модуля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и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схема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структуры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приложения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. </a:t>
            </a:r>
            <a:endParaRPr lang="en-US" altLang="ru-RU" sz="2400" b="1">
              <a:solidFill>
                <a:schemeClr val="tx1"/>
              </a:solidFill>
              <a:latin typeface="+mj-lt"/>
              <a:cs typeface="+mj-lt"/>
            </a:endParaRPr>
          </a:p>
          <a:p>
            <a:pPr algn="ctr"/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Произведена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отладка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,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тестирование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и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оптимизация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программного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модуля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с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использованием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встроенных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средств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отладки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приложений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в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среде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j-lt"/>
                <a:cs typeface="+mj-lt"/>
              </a:rPr>
              <a:t>программирования</a:t>
            </a:r>
            <a:r>
              <a:rPr lang="en-US" altLang="ru-RU" sz="2400" b="1">
                <a:solidFill>
                  <a:schemeClr val="tx1"/>
                </a:solidFill>
                <a:latin typeface="+mj-lt"/>
                <a:cs typeface="+mj-lt"/>
              </a:rPr>
              <a:t>.  </a:t>
            </a:r>
            <a:endParaRPr lang="en-US" altLang="ru-RU" sz="2400" b="1">
              <a:solidFill>
                <a:schemeClr val="tx1"/>
              </a:solidFill>
              <a:latin typeface="+mj-lt"/>
              <a:cs typeface="+mj-lt"/>
            </a:endParaRPr>
          </a:p>
        </p:txBody>
      </p:sp>
      <p:cxnSp>
        <p:nvCxnSpPr>
          <p:cNvPr id="7" name="Прямое соединение 6"/>
          <p:cNvCxnSpPr/>
          <p:nvPr/>
        </p:nvCxnSpPr>
        <p:spPr>
          <a:xfrm flipH="1">
            <a:off x="1573530" y="953135"/>
            <a:ext cx="635" cy="59531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  <a:lin ang="21120000"/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Прямое соединение 8"/>
          <p:cNvCxnSpPr/>
          <p:nvPr/>
        </p:nvCxnSpPr>
        <p:spPr>
          <a:xfrm flipH="1">
            <a:off x="10617200" y="904875"/>
            <a:ext cx="635" cy="59531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  <a:lin ang="21120000"/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48.15,&quot;left&quot;:7.2,&quot;top&quot;:124.35,&quot;width&quot;:936}"/>
</p:tagLst>
</file>

<file path=ppt/tags/tag2.xml><?xml version="1.0" encoding="utf-8"?>
<p:tagLst xmlns:p="http://schemas.openxmlformats.org/presentationml/2006/main">
  <p:tag name="KSO_WM_DIAGRAM_VIRTUALLY_FRAME" val="{&quot;height&quot;:348.15,&quot;left&quot;:7.2,&quot;top&quot;:124.35,&quot;width&quot;:936}"/>
</p:tagLst>
</file>

<file path=ppt/tags/tag3.xml><?xml version="1.0" encoding="utf-8"?>
<p:tagLst xmlns:p="http://schemas.openxmlformats.org/presentationml/2006/main">
  <p:tag name="KSO_WM_DIAGRAM_VIRTUALLY_FRAME" val="{&quot;height&quot;:348.15,&quot;left&quot;:7.2,&quot;top&quot;:124.35,&quot;width&quot;:936}"/>
</p:tagLst>
</file>

<file path=ppt/tags/tag4.xml><?xml version="1.0" encoding="utf-8"?>
<p:tagLst xmlns:p="http://schemas.openxmlformats.org/presentationml/2006/main">
  <p:tag name="KSO_WM_DIAGRAM_VIRTUALLY_FRAME" val="{&quot;height&quot;:348.15,&quot;left&quot;:7.2,&quot;top&quot;:124.35,&quot;width&quot;:936}"/>
</p:tagLst>
</file>

<file path=ppt/tags/tag5.xml><?xml version="1.0" encoding="utf-8"?>
<p:tagLst xmlns:p="http://schemas.openxmlformats.org/presentationml/2006/main">
  <p:tag name="KSO_WM_DIAGRAM_VIRTUALLY_FRAME" val="{&quot;height&quot;:348.15,&quot;left&quot;:7.2,&quot;top&quot;:124.35,&quot;width&quot;:936}"/>
</p:tagLst>
</file>

<file path=ppt/tags/tag6.xml><?xml version="1.0" encoding="utf-8"?>
<p:tagLst xmlns:p="http://schemas.openxmlformats.org/presentationml/2006/main">
  <p:tag name="KSO_WM_DIAGRAM_VIRTUALLY_FRAME" val="{&quot;height&quot;:348.15,&quot;left&quot;:7.2,&quot;top&quot;:124.35,&quot;width&quot;:936}"/>
</p:tagLst>
</file>

<file path=ppt/tags/tag7.xml><?xml version="1.0" encoding="utf-8"?>
<p:tagLst xmlns:p="http://schemas.openxmlformats.org/presentationml/2006/main">
  <p:tag name="KSO_WM_DIAGRAM_VIRTUALLY_FRAME" val="{&quot;height&quot;:348.15,&quot;left&quot;:7.2,&quot;top&quot;:124.35,&quot;width&quot;:9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2320</Words>
  <Application>WPS Presentation</Application>
  <PresentationFormat>宽屏</PresentationFormat>
  <Paragraphs>116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Montserrat Black</vt:lpstr>
      <vt:lpstr>Cascadia Code</vt:lpstr>
      <vt:lpstr>Calibri</vt:lpstr>
      <vt:lpstr>Microsoft YaHei</vt:lpstr>
      <vt:lpstr>Arial Unicode MS</vt:lpstr>
      <vt:lpstr>Office Theme</vt:lpstr>
      <vt:lpstr>ПМ.01 Разработка модулей программного обеспечения для компьютерных систем</vt:lpstr>
      <vt:lpstr>PowerPoint 演示文稿</vt:lpstr>
      <vt:lpstr>Функциональные требования: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Дмитрий</cp:lastModifiedBy>
  <cp:revision>22</cp:revision>
  <dcterms:created xsi:type="dcterms:W3CDTF">2025-07-23T00:59:00Z</dcterms:created>
  <dcterms:modified xsi:type="dcterms:W3CDTF">2026-03-05T03:58:59Z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1049-12.2.0.23197</vt:lpwstr>
  </property>
  <property fmtid="{D5CDD505-2E9C-101B-9397-08002B2CF9AE}" pid="3" name="ICV">
    <vt:lpwstr>AB0AE098EB984C868076D356BD3C7338_13</vt:lpwstr>
  </property>
</Properties>
</file>